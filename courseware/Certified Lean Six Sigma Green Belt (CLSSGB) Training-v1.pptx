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58368"/>
            <a:ext cx="749808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9659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7899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11827"/>
                </a:solidFill>
                <a:latin typeface="Arial"/>
              </a:rPr>
              <a:t>Certified Lean Six Sigma Green Belt (CLSSGB)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24528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55B66"/>
                </a:solidFill>
                <a:latin typeface="Arial"/>
              </a:rPr>
              <a:t>WSQ Course Code: TGS-2025055775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55B66"/>
                </a:solidFill>
                <a:latin typeface="Arial"/>
              </a:rPr>
              <a:t>Conducted by Tertiary Infotech Academy Pte Ltd  |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59893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Version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99632"/>
            <a:ext cx="10789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5B66"/>
                </a:solidFill>
                <a:latin typeface="Arial"/>
              </a:rPr>
              <a:t>(c) 2026 Tertiary Infotech Academy Pte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Copyright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6070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Copyright (c) 2026 Tertiary Infotech Academy Pte Ltd. All rights reserved.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No part of this courseware may be reproduced or distributed without written permission.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Learners may use the materials for personal learning during this WSQ course.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All trademarks and product names belong to their respective owners.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333756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3337560" cy="91440"/>
          </a:xfrm>
          <a:prstGeom prst="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9072" y="2395728"/>
            <a:ext cx="1600200" cy="1600200"/>
          </a:xfrm>
          <a:prstGeom prst="ellipse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9072" y="28529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00600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555B66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672084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975104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221992"/>
            <a:ext cx="4023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2542032"/>
            <a:ext cx="672084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542032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68833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935224"/>
            <a:ext cx="4023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3255264"/>
            <a:ext cx="672084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255264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401568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3648456"/>
            <a:ext cx="4023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3968496"/>
            <a:ext cx="672084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968496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11480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4361688"/>
            <a:ext cx="4023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0" y="4681728"/>
            <a:ext cx="672084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4681728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4828032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5074920"/>
            <a:ext cx="4023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0" y="5394960"/>
            <a:ext cx="672084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539496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5541264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5788152"/>
            <a:ext cx="4023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REFERENCE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About the Trainer - Reference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iner-gener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62" y="1691640"/>
            <a:ext cx="7533436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33375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333756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1640" y="2304288"/>
            <a:ext cx="1664208" cy="16642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2788920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773168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55B66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6720840" cy="777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828800"/>
            <a:ext cx="73152" cy="777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975104"/>
            <a:ext cx="6217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21992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807208"/>
            <a:ext cx="6720840" cy="777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807208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953512"/>
            <a:ext cx="6217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00400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Arial"/>
              </a:rPr>
              <a:t>PhD - specialises in AI, automation and software engineering.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785616"/>
            <a:ext cx="6720840" cy="777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785616"/>
            <a:ext cx="73152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931920"/>
            <a:ext cx="6217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178808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Arial"/>
              </a:rPr>
              <a:t>WSQ courses on Lean Six Sigma, AI automation and app development.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764024"/>
            <a:ext cx="6720840" cy="777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4764024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910328"/>
            <a:ext cx="6217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157216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REFERENCE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About the Trainer - Reference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iner-profil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555" y="1691640"/>
            <a:ext cx="7705849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Course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6070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Day 1: Lean Six Sigma basics, project selection, SIPOC, process mapping, facilitation, A3, KPIs and baseline charts.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Day 2: Basic statistics, capability, root cause analysis, FMEA, countermeasures, control plan and project close.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Final session: A3 presentation readiness, assessment briefing and course wrap-up.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25780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73152" cy="1097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" y="201168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130552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7568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25780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56248" y="20116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130552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07568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08960"/>
            <a:ext cx="525780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108960"/>
            <a:ext cx="731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9848" y="34290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547872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49300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108960"/>
            <a:ext cx="525780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10896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56248" y="34290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3547872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49300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26280"/>
            <a:ext cx="525780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526280"/>
            <a:ext cx="73152" cy="10972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4846320"/>
            <a:ext cx="502920" cy="50292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4965192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91032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526280"/>
            <a:ext cx="525780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526280"/>
            <a:ext cx="73152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56248" y="484632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965192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91032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REFERENCE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Ground Rules - Reference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ound-rul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780" y="1691640"/>
            <a:ext cx="764940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6070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Explain Lean, Six Sigma, DMAIC, COPQ, Kano and Green Belt responsibilities.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Select and scope a suitable improvement project.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Create SIPOC, process maps, stakeholder analysis, Kaizen plan and A3 report.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Define KPIs, collect baseline data and build run/Pareto charts.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Apply basic statistics, root cause analysis, FMEA and countermeasures.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Create a control plan, response plan and project closeout presentation.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Digital Attendance and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6070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Take AM, PM and assessment digital attendance when instructed by the trainer.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Minimum attendance requirements apply for SSG-funded courses.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Courseware and assessment instructions are provided through the LMS.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Submit required assessment evidence before leaving the classroom.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9659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4048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523744"/>
            <a:ext cx="4389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44952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944368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240280"/>
            <a:ext cx="19659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0672" y="24048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23744"/>
            <a:ext cx="4389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044952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944368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240280"/>
            <a:ext cx="19659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30952" y="240487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2" y="2523744"/>
            <a:ext cx="4389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044952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944368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240280"/>
            <a:ext cx="19659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71232" y="240487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2523744"/>
            <a:ext cx="4389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3044952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944368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2240280"/>
            <a:ext cx="19659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11512" y="24048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1512" y="2523744"/>
            <a:ext cx="4389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044952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892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55B66"/>
                </a:solidFill>
                <a:latin typeface="Arial"/>
              </a:rPr>
              <a:t>The TRAQOM QR code, LMS submission and assessment evidence are handled through the LMS/TMS portal.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REFERENCE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Assessment Flow - Reference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ssessment-flow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752" y="1691640"/>
            <a:ext cx="7609455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Practice Project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6070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Project selection worksheet, problem statement and goal statement.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SIPOC, process map, stakeholder analysis, Kaizen plan and A3 report.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Data collection plan, baseline data, run chart, Pareto chart and statistics worksheet.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Root cause worksheet, FMEA, countermeasure plan, standard work and control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Take the Online CLSSGB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3891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20" b="1">
                <a:solidFill>
                  <a:srgbClr val="1F6FEB"/>
                </a:solidFill>
                <a:latin typeface="Arial"/>
              </a:rPr>
              <a:t>-  </a:t>
            </a:r>
            <a:r>
              <a:rPr sz="1420">
                <a:solidFill>
                  <a:srgbClr val="111827"/>
                </a:solidFill>
                <a:latin typeface="Arial"/>
              </a:rPr>
              <a:t>Reinforce all six CLSSGB domains with realistic exam-style questions before assessment day.</a:t>
            </a:r>
          </a:p>
          <a:p>
            <a:pPr>
              <a:spcAft>
                <a:spcPts val="900"/>
              </a:spcAft>
            </a:pPr>
            <a:r>
              <a:rPr sz="1420" b="1">
                <a:solidFill>
                  <a:srgbClr val="1F6FEB"/>
                </a:solidFill>
                <a:latin typeface="Arial"/>
              </a:rPr>
              <a:t>-  </a:t>
            </a:r>
            <a:r>
              <a:rPr sz="1420">
                <a:solidFill>
                  <a:srgbClr val="111827"/>
                </a:solidFill>
                <a:latin typeface="Arial"/>
              </a:rPr>
              <a:t>Use practice sets to test DMAIC, process mapping, data analysis, FMEA and control planning.</a:t>
            </a:r>
          </a:p>
          <a:p>
            <a:pPr>
              <a:spcAft>
                <a:spcPts val="900"/>
              </a:spcAft>
            </a:pPr>
            <a:r>
              <a:rPr sz="1420" b="1">
                <a:solidFill>
                  <a:srgbClr val="1F6FEB"/>
                </a:solidFill>
                <a:latin typeface="Arial"/>
              </a:rPr>
              <a:t>-  </a:t>
            </a:r>
            <a:r>
              <a:rPr sz="142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  <a:p>
            <a:pPr>
              <a:spcAft>
                <a:spcPts val="900"/>
              </a:spcAft>
            </a:pPr>
            <a:r>
              <a:rPr sz="1420" b="1">
                <a:solidFill>
                  <a:srgbClr val="1F6FEB"/>
                </a:solidFill>
                <a:latin typeface="Arial"/>
              </a:rPr>
              <a:t>-  </a:t>
            </a:r>
            <a:r>
              <a:rPr sz="142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the review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rial"/>
              </a:rPr>
              <a:t>Access and practise at:
</a:t>
            </a:r>
            <a:r>
              <a:rPr sz="15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828800"/>
            <a:ext cx="5897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ssgb-practice-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207418"/>
            <a:ext cx="5806440" cy="32661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REFERENCE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CLSSGB Practice Exam - Course-Specific Screenshot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ssgb-practice-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80" y="1691640"/>
            <a:ext cx="772160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LEAN SIX SIGMA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DMAIC Project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75688" y="3127248"/>
            <a:ext cx="80467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61688" y="3127248"/>
            <a:ext cx="80467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47688" y="3127248"/>
            <a:ext cx="80467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33688" y="3127248"/>
            <a:ext cx="80467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274320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4612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Problem, customer,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74320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90779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324612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Baseline and KPI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274320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90779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324612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Patterns and root causes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74320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90779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324612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Countermeasures and pilots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274320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290779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324612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Sustain and hand 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73736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Each lab contributes one artifact to the final Green Belt A3 project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KEY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Lean and Six Sigma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55648"/>
            <a:ext cx="5074920" cy="4343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55648"/>
            <a:ext cx="5074920" cy="4343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56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Lean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56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Six Sigma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423160"/>
            <a:ext cx="4480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Remove non-value-added work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Reduce waiting, rework, handoffs and motion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Improve flow and visual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23160"/>
            <a:ext cx="4480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Reduce variation and defects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Use data to understand performance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Protect the customer-critical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Core Green Belt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55648"/>
            <a:ext cx="5074920" cy="4343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55648"/>
            <a:ext cx="5074920" cy="4343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56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Project and process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56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Data and control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423160"/>
            <a:ext cx="4480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Project charter and selection matrix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SIPOC and current-state process map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Stakeholder analysis and facilitation plan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A3 report and Kaizen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23160"/>
            <a:ext cx="4480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Operational definitions and KPI plan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Run chart, Pareto chart and basic statistics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Fishbone, 5 Whys and FMEA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Control plan and response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70048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11827"/>
                </a:solidFill>
                <a:latin typeface="Arial"/>
              </a:rPr>
              <a:t>Basics and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13632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55B66"/>
                </a:solidFill>
                <a:latin typeface="Arial"/>
              </a:rPr>
              <a:t>Lean, Six Sigma, DMAIC, Green Belt role, COPQ, Kano and project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BASICS AND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01: Lean Six Sigma Basics and Project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Arial"/>
              </a:rPr>
              <a:t>You have been asked to support an improvement initiative. Before mapping or measuring the process, you must choose a project that is valuable, realistic, and appropriate for a Green Belt.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Explain Lean Six Sigma fundamentals.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Describe the Green Belt role.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Identify customer value and COPQ.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Select a suitable improvement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Project selection worksheet.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COPQ notes.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Kano notes.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Draft problem and goal statements.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01 Steps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Write your own definition of Lean.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Write your own definition of Six Sigma.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List the five DMAIC phases and one activity in each phase.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Describe what a Green Belt typically does in an improvement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Select three possible process problems from your workplace or a trainer scenario.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For each problem, identify the customer affected.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01 Steps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Estimate cost of poor quality, including rework, delay, errors, complaints, or morale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Use the Kano model to classify customer needs as basic, performance, or delight factors.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Write Y=f(x) for each project idea.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Score each project by impact, feasibility, data availability, and scope.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Select the best project for the remaining labs.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Draft a problem statement and goal statement.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01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The selected project is small enough for a Green Belt.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The problem statement uses observable facts.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The goal statement is measurable.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Customer value is clearly described.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How do Lean and Six Sigma complement each other?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What makes a project suitable for a Green Belt?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should COPQ include hidden costs?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What does Y=f(x) mean in process improvement?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70048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11827"/>
                </a:solidFill>
                <a:latin typeface="Arial"/>
              </a:rPr>
              <a:t>Process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13632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55B66"/>
                </a:solidFill>
                <a:latin typeface="Arial"/>
              </a:rPr>
              <a:t>SIPOC, current-state mapping, value-added analysis and eight wastes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PROCESS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02: SIPOC, Process Map, and Eight Wastes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Arial"/>
              </a:rPr>
              <a:t>The selected project needs a shared view of the process. You will map the process and identify where waste may be harming customer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Build a SIPOC.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Create a current-state process map.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Identify value-added and non-value-added steps.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Locate the eight wastes.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SIPOC.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Current-state process map.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Waste analysis table.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Measurement point notes.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02 Steps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Define the start and end points of the process.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List the major outputs and customers.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List the key inputs and suppliers.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Create a SIPOC 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Draw a current-state process map.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Include decision points, approvals, handoffs, queues, and rework loops.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02 Steps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Label each process step as value-added, business-value-added, or non-value-added.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the eight wastes: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Mark the two most visible waste areas on the 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Decide where data should be collected in Lab 04.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02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SIPOC boundaries match the project.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Process map shows the real current state.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Waste examples are tied to actual process steps.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Measurement points are identified.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should mapping show the current state instead of the ideal state?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Which wastes are common in office or service processes?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How can handoffs create delay?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is underused talent considered waste?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70048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11827"/>
                </a:solidFill>
                <a:latin typeface="Arial"/>
              </a:rPr>
              <a:t>Facilitation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13632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55B66"/>
                </a:solidFill>
                <a:latin typeface="Arial"/>
              </a:rPr>
              <a:t>Stakeholders, facilitation behaviours, Kaizen planning and A3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FACILITATION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03: Facilitation, Stakeholders, Kaizen, and A3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Arial"/>
              </a:rPr>
              <a:t>Green Belts often improve processes by working through people. You need to bring the right people together, keep discussion structured, and document the improvement story clearly.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Identify stakeholders.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Plan a facilitated improvement meeting.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Design a Kaizen event.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Start an A3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Stakeholder analysis.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Facilitation agenda.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Kaizen plan.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Draft A3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03 Steps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List all stakeholders affected by the process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Rate each stakeholder by interest and influence.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likely supporters, blockers, and subject matter experts.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Write one engagement action for each key stakeholder.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Create an agenda for a 60-minute improvement meeting.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Include objective, ground rules, roles, timing, and expected outputs.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03 Steps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Plan a Kaizen event for one process pain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Define pre-work, event activities, and follow-up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Create an A3 report with background, current condition, goal, and next step sections.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Practise explaining the A3 in three minutes.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Update the A3 based on peer or trainer feedback.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03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Stakeholder actions match stakeholder concerns.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Meeting agenda has clear outputs.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Kaizen scope is small and practical.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A3 report tells the project story simply.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is facilitation important for Green Belts?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What makes a Kaizen event focused?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How does an A3 report support communication?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should blockers be engaged early?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70048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11827"/>
                </a:solidFill>
                <a:latin typeface="Arial"/>
              </a:rPr>
              <a:t>Analyze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13632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55B66"/>
                </a:solidFill>
                <a:latin typeface="Arial"/>
              </a:rPr>
              <a:t>KPI definitions, data collection, run charts, Pareto, basic statistics and 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ANALYZE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04: Data Collection, KPIs, Run Charts, and Pareto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Arial"/>
              </a:rPr>
              <a:t>The project team needs baseline data. You will define what to measure, collect or use sample data, and visualize the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Define a KPI.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Create a data collection plan.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Build a run chart.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Build a Pareto chart.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KPI definition.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Data collection plan.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Run chart.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Pareto chart.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Focus area statement.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04 Steps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Select one primary KPI for the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Write an operational definition for the KPI.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Define unit, defect, opportunity, and target if applicable.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data source, owner, frequency, and sample size.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Create a data collection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Collect baseline data or use a trainer-provided dataset.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04 Steps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Check for missing values, duplicate records, and inconsistent categories.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Create a run chart showing performance over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Add notes for known events or process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Create a Pareto chart for defect categories, delay reasons, or error types.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the top category contributing to the problem.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Decide what issue should move into root cause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04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KPI definition is clear enough for two people to measure consistently.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Run chart uses time order.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Pareto chart is sorted from largest to smallest.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Analysis identifies where to focus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do operational definitions matter?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What does a run chart show that a simple average hides?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is Pareto analysis useful?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What data quality checks should be done before analysis?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ANALYZE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05: Basic Statistics and Process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Arial"/>
              </a:rPr>
              <a:t>After visualizing the data, you need to summarize baseline performance. The goal is to describe both the center and spread of the process.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Calculate basic statistics.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Interpret variation.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Calculate common Six Sigma metrics.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Summarize baseline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Basic statistics table.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Histogram if applicable.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Yield, DPU, DPMO, or sigma worksheet.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Baseline performance summary.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05 Steps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Open the baseline dataset from Lab 04.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Calculate count, mean, median, minimum, maximum, range, and standard deviation.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Create a histogram for continuous data if applicable.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whether the process has obvious outliers.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Calculate yield if good units and total units are known.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Calculate DPU if defects and units are known.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05 Steps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Calculate DPMO if opportunities are known.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Estimate sigma level using a trainer-provided conversion table if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Compare actual performance with customer or business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Write a short baseline summary using numbers and plain language.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one question that still needs investigation.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05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Statistics are calculated from the correct dataset.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Variation is discussed, not only the average.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Defect metrics use correct denominators.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Baseline summary is clear to a non-statistical reader.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can averages be misleading?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What is the difference between defects and defective units?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does DPMO include opportunities?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How can variation affect customer experience?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70048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11827"/>
                </a:solidFill>
                <a:latin typeface="Arial"/>
              </a:rPr>
              <a:t>Problem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13632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55B66"/>
                </a:solidFill>
                <a:latin typeface="Arial"/>
              </a:rPr>
              <a:t>Fishbone, 5 Whys, evidence checks, FMEA and risk prioritisation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PROBLEM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06: Root Cause Analysis and 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Arial"/>
              </a:rPr>
              <a:t>The team now understands the baseline problem. You will identify possible causes and use FMEA to decide where countermeasures are most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Use Fishbone and 5 Whys.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Validate suspected causes with evidence.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Build an FMEA.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Prioritize process risks.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Fishbone diagram.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5 Whys worksheet.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Evidence notes.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FMEA.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Prioritized root cause and risk 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06 Steps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Select the biggest issue from Lab 04 or Lab 05.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Create a fishbone diagram.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Use categories such as people, process, material, equipment, measurement, environment, and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Choose two likely causes from the fishbone.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Complete 5 Whys for each selected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what evidence would support or reject each cause.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06 Steps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Review available data or collect quick observations.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Mark each cause as supported, unsupported, or needing more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Create an FMEA for the process step most related to the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List failure mode, effect, cause, and current controls.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Score severity, occurrence, and detection.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Calculate RPN.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06 Steps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the top risks for countermeasures.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06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Root causes are not based only on opinion.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5 Whys reaches process-level causes.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FMEA scores are discussed by the team.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High-priority risks are clear.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can 5 Whys fail if the team stops too early?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What is the purpose of FMEA?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should FMEA include current controls?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How does RPN help prioritize action?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DOMAIN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70048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11827"/>
                </a:solidFill>
                <a:latin typeface="Arial"/>
              </a:rPr>
              <a:t>Countermeasures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13632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55B66"/>
                </a:solidFill>
                <a:latin typeface="Arial"/>
              </a:rPr>
              <a:t>Countermeasure selection, 5S, Kanban, poka-yoke and standard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COUNTERMEASURES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07: Countermeasures, 5S, Kanban, and Poka-Yoke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Arial"/>
              </a:rPr>
              <a:t>The team is ready to improve the process. The countermeasures must address validated causes and be simple enough to test quickly.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Select countermeasures linked to root causes.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Apply 5S and visual management.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Use Kanban concepts.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Design mistake proofing.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Countermeasure list.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Impact-effort matrix.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5S action list.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Kanban or visual control sketch.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Poka-yoke idea.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Draft standard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07 Steps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List supported root causes and high-priority FMEA risks.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Brainstorm possible countermeasures.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Remove ideas that do not address a validated cause.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Use an impact-effort matrix to prioritize options.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Select one or two countermeasures for a small 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Apply 5S to the relevant physical or information workspace.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07 Steps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where visual management would help the team see status or errors.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where a Kanban signal could prevent waiting, shortage, or overload.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Design one poka-yoke idea to prevent or detect an error earlier.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Draft standard work for the improved step.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Define test duration, success measure, and rollback condition.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Record expected benefits and possible side effects.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07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Each countermeasure links to a supported cause or risk.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Impact-effort matrix supports the selection.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Standard work is clear enough for another person to follow.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Test criteria are measurable.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should countermeasures be linked to root causes?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How does 5S improve process stability?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What is the purpose of Kanban?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is mistake proofing better than end-of-process inspection?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DOMAIN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70048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11827"/>
                </a:solidFill>
                <a:latin typeface="Arial"/>
              </a:rPr>
              <a:t>Control and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13632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55B66"/>
                </a:solidFill>
                <a:latin typeface="Arial"/>
              </a:rPr>
              <a:t>Control plan, response plan, handover, A3 closeout and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AND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08: Control Plan, Standard Work, and Project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Arial"/>
              </a:rPr>
              <a:t>The improvement has been selected and tested. You must make sure the process owner can sustain the result after the project closes.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0749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Build a control plan.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Define response actions.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Finalize standard work.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Present the project using A3.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218688"/>
            <a:ext cx="45262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Control plan.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Response plan.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Final standard work.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Final A3 report.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-  </a:t>
            </a:r>
            <a:r>
              <a:rPr sz="1350">
                <a:solidFill>
                  <a:srgbClr val="111827"/>
                </a:solidFill>
                <a:latin typeface="Arial"/>
              </a:rPr>
              <a:t>Project presentation notes.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08 Steps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List the improved process steps that require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Identify the KPI or CTQ to monitor.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Define target, measurement method, frequency, and owner.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Write a response plan for performance outside the expected range.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Finalize standard work instructions.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Define training actions for team members.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STEP-BY-STEP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08 Steps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19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Define audit or check-in frequency.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7744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Compare before and after performance if pilot data is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3580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Update the A3 report with root cause, countermeasure, result, and follow-up.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9417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Prepare a five-minute presentation.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525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Present the project story to a peer or trainer.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11827"/>
                </a:solidFill>
                <a:latin typeface="Arial"/>
              </a:rPr>
              <a:t>Record lessons learned and remaining risks.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Lab 08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Control plan has clear owner and frequency.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Response plan says what to do when performance changes.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A3 report tells the complete improvement story.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Handover actions are practical.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do improvements fade after project closure?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What should a response plan include?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How does standard work support consistency?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-  </a:t>
            </a:r>
            <a:r>
              <a:rPr sz="1450">
                <a:solidFill>
                  <a:srgbClr val="111827"/>
                </a:solidFill>
                <a:latin typeface="Arial"/>
              </a:rPr>
              <a:t>Why is A3 useful for project communication?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Final A3 Project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6070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Define the problem and customer impact.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Measure current performance using agreed KPIs.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Analyze the largest contributors and validated root causes.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Improve with countermeasures linked to causes and risks.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Control the process with ownership, monitoring and response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88136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6070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Complete TRAQOM and any required LMS submissions.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Keep your project artifacts for workplace application.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11827"/>
                </a:solidFill>
                <a:latin typeface="Arial"/>
              </a:rPr>
              <a:t>Continue improving with data, discipline and respect for the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Certified Lean Six Sigma Green Belt (CLSSGB) Training  |  TGS-2025055775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556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